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1-2</c:v>
                </c:pt>
                <c:pt idx="1">
                  <c:v>3-4</c:v>
                </c:pt>
                <c:pt idx="2">
                  <c:v>5-6</c:v>
                </c:pt>
                <c:pt idx="3">
                  <c:v>7-8</c:v>
                </c:pt>
                <c:pt idx="4">
                  <c:v>9-10</c:v>
                </c:pt>
                <c:pt idx="5">
                  <c:v>11-12</c:v>
                </c:pt>
                <c:pt idx="6">
                  <c:v>13+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29000</c:v>
                </c:pt>
                <c:pt idx="1">
                  <c:v>31000</c:v>
                </c:pt>
                <c:pt idx="2">
                  <c:v>19000</c:v>
                </c:pt>
                <c:pt idx="3">
                  <c:v>11000</c:v>
                </c:pt>
                <c:pt idx="4">
                  <c:v>6000</c:v>
                </c:pt>
                <c:pt idx="5">
                  <c:v>3000</c:v>
                </c:pt>
                <c:pt idx="6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C2-4A83-8E6C-E0962396A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rcount</c:v>
                </c:pt>
                <c:pt idx="1">
                  <c:v>psychologicaldisordermajor</c:v>
                </c:pt>
                <c:pt idx="2">
                  <c:v>hemo</c:v>
                </c:pt>
                <c:pt idx="3">
                  <c:v>irondef</c:v>
                </c:pt>
                <c:pt idx="4">
                  <c:v>psychother</c:v>
                </c:pt>
                <c:pt idx="5">
                  <c:v>malnutrition</c:v>
                </c:pt>
                <c:pt idx="6">
                  <c:v>dialysisrenalendstage</c:v>
                </c:pt>
                <c:pt idx="7">
                  <c:v>bloodureanitro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0.74950000000000006</c:v>
                </c:pt>
                <c:pt idx="1">
                  <c:v>0.28670000000000001</c:v>
                </c:pt>
                <c:pt idx="2">
                  <c:v>0.2177</c:v>
                </c:pt>
                <c:pt idx="3">
                  <c:v>0.1938</c:v>
                </c:pt>
                <c:pt idx="4">
                  <c:v>0.19170000000000001</c:v>
                </c:pt>
                <c:pt idx="5">
                  <c:v>0.1744</c:v>
                </c:pt>
                <c:pt idx="6">
                  <c:v>0.16969999999999999</c:v>
                </c:pt>
                <c:pt idx="7">
                  <c:v>0.14829999999999999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FF-4D79-9EE5-F842635A35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b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47-48F9-9EAC-FF3234FC3006}"/>
              </c:ext>
            </c:extLst>
          </c:dPt>
          <c:dPt>
            <c:idx val="1"/>
            <c:invertIfNegative val="0"/>
            <c:bubble3D val="0"/>
            <c:spPr>
              <a:solidFill>
                <a:srgbClr val="5FB9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47-48F9-9EAC-FF3234FC3006}"/>
              </c:ext>
            </c:extLst>
          </c:dPt>
          <c:dPt>
            <c:idx val="2"/>
            <c:invertIfNegative val="0"/>
            <c:bubble3D val="0"/>
            <c:spPr>
              <a:solidFill>
                <a:srgbClr val="8FC3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47-48F9-9EAC-FF3234FC3006}"/>
              </c:ext>
            </c:extLst>
          </c:dPt>
          <c:dPt>
            <c:idx val="3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47-48F9-9EAC-FF3234FC3006}"/>
              </c:ext>
            </c:extLst>
          </c:dPt>
          <c:dPt>
            <c:idx val="4"/>
            <c:invertIfNegative val="0"/>
            <c:bubble3D val="0"/>
            <c:spPr>
              <a:solidFill>
                <a:srgbClr val="06A7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47-48F9-9EAC-FF3234FC3006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
Regression</c:v>
                </c:pt>
                <c:pt idx="1">
                  <c:v>Ridge
Regression</c:v>
                </c:pt>
                <c:pt idx="2">
                  <c:v>Decision
Tree</c:v>
                </c:pt>
                <c:pt idx="3">
                  <c:v>Random
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0.75219999999999998</c:v>
                </c:pt>
                <c:pt idx="1">
                  <c:v>0.75219999999999998</c:v>
                </c:pt>
                <c:pt idx="2">
                  <c:v>0.87590000000000001</c:v>
                </c:pt>
                <c:pt idx="3">
                  <c:v>0.94099999999999995</c:v>
                </c:pt>
                <c:pt idx="4">
                  <c:v>0.97170000000000001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647-48F9-9EAC-FF3234FC30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18A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454-45EB-B60B-92398A4EBFD7}"/>
              </c:ext>
            </c:extLst>
          </c:dPt>
          <c:dPt>
            <c:idx val="1"/>
            <c:invertIfNegative val="0"/>
            <c:bubble3D val="0"/>
            <c:spPr>
              <a:solidFill>
                <a:srgbClr val="5FB9D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454-45EB-B60B-92398A4EBFD7}"/>
              </c:ext>
            </c:extLst>
          </c:dPt>
          <c:dPt>
            <c:idx val="2"/>
            <c:invertIfNegative val="0"/>
            <c:bubble3D val="0"/>
            <c:spPr>
              <a:solidFill>
                <a:srgbClr val="8FC3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454-45EB-B60B-92398A4EBFD7}"/>
              </c:ext>
            </c:extLst>
          </c:dPt>
          <c:dPt>
            <c:idx val="3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54-45EB-B60B-92398A4EBFD7}"/>
              </c:ext>
            </c:extLst>
          </c:dPt>
          <c:dPt>
            <c:idx val="4"/>
            <c:invertIfNegative val="0"/>
            <c:bubble3D val="0"/>
            <c:spPr>
              <a:solidFill>
                <a:srgbClr val="06A7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454-45EB-B60B-92398A4EBFD7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
Regression</c:v>
                </c:pt>
                <c:pt idx="1">
                  <c:v>Ridge
Regression</c:v>
                </c:pt>
                <c:pt idx="2">
                  <c:v>Decision
Tree</c:v>
                </c:pt>
                <c:pt idx="3">
                  <c:v>Random
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1.1660999999999999</c:v>
                </c:pt>
                <c:pt idx="1">
                  <c:v>1.1660999999999999</c:v>
                </c:pt>
                <c:pt idx="2">
                  <c:v>0.82520000000000004</c:v>
                </c:pt>
                <c:pt idx="3">
                  <c:v>0.56869999999999998</c:v>
                </c:pt>
                <c:pt idx="4">
                  <c:v>0.39389999999999997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454-45EB-B60B-92398A4EBF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5"/>
          <c:min val="0"/>
        </c:scaling>
        <c:delete val="0"/>
        <c:axPos val="l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73B4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rcount</c:v>
                </c:pt>
                <c:pt idx="1">
                  <c:v>total_issues</c:v>
                </c:pt>
                <c:pt idx="2">
                  <c:v>hematocrit</c:v>
                </c:pt>
                <c:pt idx="3">
                  <c:v>bmi</c:v>
                </c:pt>
                <c:pt idx="4">
                  <c:v>glucose</c:v>
                </c:pt>
                <c:pt idx="5">
                  <c:v>creatinine</c:v>
                </c:pt>
                <c:pt idx="6">
                  <c:v>sodium</c:v>
                </c:pt>
                <c:pt idx="7">
                  <c:v>respiration</c:v>
                </c:pt>
                <c:pt idx="8">
                  <c:v>pulse</c:v>
                </c:pt>
                <c:pt idx="9">
                  <c:v>neutrophils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0.56430000000000002</c:v>
                </c:pt>
                <c:pt idx="1">
                  <c:v>0.2132</c:v>
                </c:pt>
                <c:pt idx="2">
                  <c:v>3.8699999999999998E-2</c:v>
                </c:pt>
                <c:pt idx="3">
                  <c:v>2.5499999999999998E-2</c:v>
                </c:pt>
                <c:pt idx="4">
                  <c:v>2.5499999999999998E-2</c:v>
                </c:pt>
                <c:pt idx="5">
                  <c:v>2.53E-2</c:v>
                </c:pt>
                <c:pt idx="6">
                  <c:v>2.5100000000000001E-2</c:v>
                </c:pt>
                <c:pt idx="7">
                  <c:v>2.47E-2</c:v>
                </c:pt>
                <c:pt idx="8">
                  <c:v>2.3800000000000002E-2</c:v>
                </c:pt>
                <c:pt idx="9">
                  <c:v>1.6199999999999999E-2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7D-4864-9D33-B50BDBFB46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b"/>
        <c:majorGridlines>
          <c:spPr>
            <a:ln w="9525" cap="flat">
              <a:solidFill>
                <a:srgbClr val="E3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15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188720"/>
            <a:ext cx="3108960" cy="310896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291840"/>
            <a:ext cx="2743200" cy="274320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ABABA SCIENCE AND TECHNOLOGY UNIVERSITY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 •  Department of Software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4360" y="224028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Length of Stay Prediction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Five-Model Comparative Study: Linear Regression, Ridge, Decision Tree, Random Forest &amp; XGBoost for Clinical LoS Prediction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822192"/>
            <a:ext cx="7589520" cy="9144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64008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Section 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187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 Dagnachew — ETS0747/15    |    Kalkidan Agonafir — ETS0749/15    |    Kernemi Kidane — ETS0760/15    |    Lidiya Abebe — ETS0832/15    |    Meti Seboka — ETS0918/15    |    Nehemiah Mitiku — ETS1082/15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Assoc. Prof. Fedlu Nurhussien      |      Academic Year 2025–2026</a:t>
            </a:r>
            <a:endParaRPr lang="en-US" sz="10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64B231AE-CD6A-4407-B09E-69D73932D282}"/>
              </a:ext>
            </a:extLst>
          </p:cNvPr>
          <p:cNvSpPr/>
          <p:nvPr/>
        </p:nvSpPr>
        <p:spPr>
          <a:xfrm>
            <a:off x="1870166" y="181443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234440" y="13807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0" y="138074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LoS prediction matters in hospital operations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2066544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234440" y="2075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572000" y="20756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patient records, 28 clinical features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2761488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234440" y="2770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572000" y="277063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feature engineering, and model design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3456432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1234440" y="3465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572000" y="346557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5-model comparison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" y="4151376"/>
            <a:ext cx="8092440" cy="0"/>
          </a:xfrm>
          <a:prstGeom prst="line">
            <a:avLst/>
          </a:prstGeom>
          <a:noFill/>
          <a:ln w="12700">
            <a:solidFill>
              <a:srgbClr val="E3EEF1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2344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4572000" y="4160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relevance, limitations, and future work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Predict Length of Stay?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(LoS) </a:t>
            </a: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days a patient remains admitted is one of the most consequential metrics in healthcare operations.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(EHRs) now provide rich, structured clinical data that machine learning can exploit to model complex, non-linear relationships traditional statistics miss.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4290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pic>
        <p:nvPicPr>
          <p:cNvPr id="8" name="Image 1" descr="icons/FaExclamationTriangl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9359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56616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LoS forecasts cause bed shortages, delayed elective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procedures, rising costs, and diminished patient care.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806440" y="137160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97880" y="1481328"/>
            <a:ext cx="26974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5897880" y="2221992"/>
            <a:ext cx="26974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 in this study's dataset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06440" y="297180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897880" y="3081528"/>
            <a:ext cx="269748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1–17 days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897880" y="3986784"/>
            <a:ext cx="26974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observed lengths of stay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= 4.00, median = 4)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4630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hospitals still rely on heuristic estimates or simple regression models,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fail to capture complex, non-linear interactions among clinical variables. This project compares a linear baseline against a non-parametric ensemble method.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115568" y="25237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&amp; data quality assessment on the hospital dataset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246888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367528" y="25237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and engineer features suitable for ML models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31012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1115568" y="336499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5 models: Linear, Ridge, Decision Tree, Random Forest, XGBoost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09160" y="331012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5367528" y="336499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performance using R² and RMSE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57200" y="415137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1115568" y="4206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clinical variables most predictive of LoS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 REVIEW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Prior 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8368" y="1581912"/>
            <a:ext cx="45720" cy="868680"/>
          </a:xfrm>
          <a:prstGeom prst="rect">
            <a:avLst/>
          </a:prstGeom>
          <a:ln/>
        </p:spPr>
      </p:sp>
      <p:sp>
        <p:nvSpPr>
          <p:cNvPr id="7" name="Text 4"/>
          <p:cNvSpPr/>
          <p:nvPr/>
        </p:nvSpPr>
        <p:spPr>
          <a:xfrm>
            <a:off x="713232" y="1545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Turgeman et al. (2017)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18562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Random Forest &amp; CART to ICU data — R² above 0.80 for ensemble methods.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581912"/>
            <a:ext cx="45720" cy="868680"/>
          </a:xfrm>
          <a:prstGeom prst="rect">
            <a:avLst/>
          </a:prstGeom>
          <a:ln/>
        </p:spPr>
      </p:sp>
      <p:sp>
        <p:nvSpPr>
          <p:cNvPr id="11" name="Text 8"/>
          <p:cNvSpPr/>
          <p:nvPr/>
        </p:nvSpPr>
        <p:spPr>
          <a:xfrm>
            <a:off x="4965192" y="15453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Barnes et al. (2016)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65192" y="18562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readmission count and comorbidity indicators markedly improve accuracy.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2825496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" y="2990088"/>
            <a:ext cx="45720" cy="868680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713232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Harutyunyan et al. (2019)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13232" y="3264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 learning jointly predicting LoS and mortality risk from time-series data.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9160" y="2825496"/>
            <a:ext cx="3977640" cy="1207008"/>
          </a:xfrm>
          <a:prstGeom prst="roundRect">
            <a:avLst>
              <a:gd name="adj" fmla="val 530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10328" y="2990088"/>
            <a:ext cx="45720" cy="868680"/>
          </a:xfrm>
          <a:prstGeom prst="rect">
            <a:avLst/>
          </a:prstGeom>
          <a:ln/>
        </p:spPr>
      </p:sp>
      <p:sp>
        <p:nvSpPr>
          <p:cNvPr id="19" name="Text 16"/>
          <p:cNvSpPr/>
          <p:nvPr/>
        </p:nvSpPr>
        <p:spPr>
          <a:xfrm>
            <a:off x="4965192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Daghistani et al. (2019)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65192" y="32644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approaches to LoS prediction among cardiac patients using EHR-derived features.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Consensus: </a:t>
            </a:r>
            <a:r>
              <a:rPr lang="en-US" sz="1200" i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tree methods consistently outperform linear baselines for LoS, and readmission count / comorbidity burden are robust predictors findings this study confirms.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DATASET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 Server “Hospital Length of Stay” a dataset of multi-facility patient records.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65176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75488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66560" y="210312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2212848"/>
            <a:ext cx="175564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58000" y="2788920"/>
            <a:ext cx="17556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Corrected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preprocessing, the rcount '5+' category was mapped to integer 5, and a single negative glucose reading was median-imputed (≈142.09 mg/dL).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lengthofstay (days)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24528"/>
          <a:ext cx="8229600" cy="548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2.36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DATASET Cont.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Categories of Features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170432" y="1517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58368" y="19933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eid, vdate, discharged, facid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58368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prior to modelling (leakage / non-informative)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09160" y="13716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422392" y="1517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&amp; History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10328" y="19933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rcount, gender,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secondarydiagnosisnonicd9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910328" y="24323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prior utilization &amp; patient profile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57200" y="2926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1170432" y="3072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Comorbidity Indicators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58368" y="3547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binary flags, e.g. asthma,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depress, malnutrition, hemo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58368" y="3986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into engineered total_issues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09160" y="2926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5422392" y="3072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Clinical Measures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910328" y="3547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hematocrit, glucose, creatinine,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pulse, respiration...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910328" y="39867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lab values &amp; vital signs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Target Distribution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400" dirty="0"/>
          </a:p>
        </p:txBody>
      </p:sp>
      <p:pic>
        <p:nvPicPr>
          <p:cNvPr id="6" name="Image 1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1368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in any column after loading</a:t>
            </a:r>
            <a:endParaRPr lang="en-US" sz="1100" dirty="0"/>
          </a:p>
        </p:txBody>
      </p:sp>
      <p:pic>
        <p:nvPicPr>
          <p:cNvPr id="8" name="Image 2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77240" y="23591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across 100,000 rows</a:t>
            </a:r>
            <a:endParaRPr lang="en-US" sz="1100" dirty="0"/>
          </a:p>
        </p:txBody>
      </p:sp>
      <p:pic>
        <p:nvPicPr>
          <p:cNvPr id="10" name="Image 3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44952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" y="29809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physiologically impossible glucose value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(−1.006 mg/dL) corrected via median imputation</a:t>
            </a:r>
            <a:endParaRPr lang="en-US" sz="1100" dirty="0"/>
          </a:p>
        </p:txBody>
      </p:sp>
      <p:pic>
        <p:nvPicPr>
          <p:cNvPr id="12" name="Image 4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66744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77240" y="36027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 '5+' label converted to integer 5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4617720" y="1417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lengthofstay (illustrative, right-skewed)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572000" y="173736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8"/>
          <p:cNvSpPr/>
          <p:nvPr/>
        </p:nvSpPr>
        <p:spPr>
          <a:xfrm>
            <a:off x="4572000" y="40416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admitted →</a:t>
            </a:r>
            <a:endParaRPr lang="en-US" sz="950" dirty="0"/>
          </a:p>
        </p:txBody>
      </p:sp>
      <p:sp>
        <p:nvSpPr>
          <p:cNvPr id="17" name="Shape 9"/>
          <p:cNvSpPr/>
          <p:nvPr/>
        </p:nvSpPr>
        <p:spPr>
          <a:xfrm>
            <a:off x="457200" y="41605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8" name="Text 10"/>
          <p:cNvSpPr/>
          <p:nvPr/>
        </p:nvSpPr>
        <p:spPr>
          <a:xfrm>
            <a:off x="548640" y="4270248"/>
            <a:ext cx="1554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4.00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548640" y="4626864"/>
            <a:ext cx="15544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(days)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2286000" y="41605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2377440" y="4270248"/>
            <a:ext cx="15544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2377440" y="4626864"/>
            <a:ext cx="15544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(days)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EXPLORATORY DATA ANALYSIS Cont.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Correlates with Length of Stay?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716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13716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263640" y="1481328"/>
            <a:ext cx="23317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6263640" y="2194560"/>
            <a:ext cx="2331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rcount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length of stay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 predictor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943600" y="29260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pic>
        <p:nvPicPr>
          <p:cNvPr id="10" name="Image 1" descr="icons/FaLightbul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09067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3429000"/>
            <a:ext cx="224028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comorbidity flags show moderate positive correlation  patients with more conditions stay longer. Hematocrit is the only notable negative correlate (r = −0.064).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METHODOLOGY 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75004" y="1664208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Correction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8521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glucose value set to NaN, imputed with column median</a:t>
            </a:r>
            <a:endParaRPr lang="en-US" sz="950" dirty="0"/>
          </a:p>
        </p:txBody>
      </p:sp>
      <p:pic>
        <p:nvPicPr>
          <p:cNvPr id="11" name="Image 2" descr="icons/Fa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331720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56032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278124" y="1664208"/>
            <a:ext cx="502920" cy="50292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14" name="Image 3" descr="icons/FaArrowRigh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783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56032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267004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Removal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68833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eid, vdate, discharged, facid to prevent leakage</a:t>
            </a:r>
            <a:endParaRPr lang="en-US" sz="950" dirty="0"/>
          </a:p>
        </p:txBody>
      </p:sp>
      <p:pic>
        <p:nvPicPr>
          <p:cNvPr id="18" name="Image 4" descr="icons/Fa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331720"/>
            <a:ext cx="146304" cy="14630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66344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5381244" y="1664208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2" name="Text 14"/>
          <p:cNvSpPr/>
          <p:nvPr/>
        </p:nvSpPr>
        <p:spPr>
          <a:xfrm>
            <a:off x="466344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477316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79145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 → integers (0–5); gender label-encoded (F=0, M=1)</a:t>
            </a:r>
            <a:endParaRPr lang="en-US" sz="950" dirty="0"/>
          </a:p>
        </p:txBody>
      </p:sp>
      <p:pic>
        <p:nvPicPr>
          <p:cNvPr id="25" name="Image 6" descr="icons/Fa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331720"/>
            <a:ext cx="146304" cy="14630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766560" y="1463040"/>
            <a:ext cx="1938528" cy="2011680"/>
          </a:xfrm>
          <a:prstGeom prst="roundRect">
            <a:avLst>
              <a:gd name="adj" fmla="val 3774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7484364" y="1664208"/>
            <a:ext cx="502920" cy="502920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29" name="Text 19"/>
          <p:cNvSpPr/>
          <p:nvPr/>
        </p:nvSpPr>
        <p:spPr>
          <a:xfrm>
            <a:off x="6766560" y="1463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0"/>
          <p:cNvSpPr/>
          <p:nvPr/>
        </p:nvSpPr>
        <p:spPr>
          <a:xfrm>
            <a:off x="6876288" y="22860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6894576" y="2697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total_issues = sum of 11 comorbidity flags (range 0–11)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073B4C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raw columns → 24 input features after removal &amp; engineering, ready for an 80/20 train-test split.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34" name="Text 24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35" name="Image 3" descr="icons/FaArrowRight_white.png">
            <a:extLst>
              <a:ext uri="{FF2B5EF4-FFF2-40B4-BE49-F238E27FC236}">
                <a16:creationId xmlns:a16="http://schemas.microsoft.com/office/drawing/2014/main" id="{A6F8406B-4F3F-4321-A0E3-BE41EFD77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594" y="1778508"/>
            <a:ext cx="274320" cy="274320"/>
          </a:xfrm>
          <a:prstGeom prst="rect">
            <a:avLst/>
          </a:prstGeom>
        </p:spPr>
      </p:pic>
      <p:pic>
        <p:nvPicPr>
          <p:cNvPr id="36" name="Image 3" descr="icons/FaArrowRight_white.png">
            <a:extLst>
              <a:ext uri="{FF2B5EF4-FFF2-40B4-BE49-F238E27FC236}">
                <a16:creationId xmlns:a16="http://schemas.microsoft.com/office/drawing/2014/main" id="{01B928B2-32D1-4979-B1EB-C8C2B2373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44" y="1783080"/>
            <a:ext cx="274320" cy="274320"/>
          </a:xfrm>
          <a:prstGeom prst="rect">
            <a:avLst/>
          </a:prstGeom>
        </p:spPr>
      </p:pic>
      <p:pic>
        <p:nvPicPr>
          <p:cNvPr id="37" name="Image 3" descr="icons/FaArrowRight_white.png">
            <a:extLst>
              <a:ext uri="{FF2B5EF4-FFF2-40B4-BE49-F238E27FC236}">
                <a16:creationId xmlns:a16="http://schemas.microsoft.com/office/drawing/2014/main" id="{C7DF1DE5-41FC-466C-AA0B-F46656D1F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664" y="177393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METHODOLOGY Cont.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060704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85216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(OLS)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85216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β₀ + β₁x₁ + ... + βₙxₙ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85216" y="2414016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inputs. Linear additive only cannot capture interactions.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64408" y="137160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3867912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392424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 (α=1.0)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3392424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+ αΣβ² (shrinks coefficients)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3392424" y="2414016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OLS to reduce overfitting on correlated features. Scaled inputs.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071616" y="137160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67512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199632" y="1901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tree, unconstrained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6199632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7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= None,  random_state = 42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6199632" y="2414016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efficient  but prone to overfitting without pruning.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3538728"/>
            <a:ext cx="3977640" cy="1901952"/>
          </a:xfrm>
          <a:prstGeom prst="roundRect">
            <a:avLst>
              <a:gd name="adj" fmla="val 3846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1143000" y="3685032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58368" y="41422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trees (Breiman, 2001)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658368" y="4389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83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n_estimators=100,  random_state=42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58368" y="465429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100 unpruned trees. Unscaled inputs. Models non-linear interactions robustly.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709160" y="3538728"/>
            <a:ext cx="3977640" cy="1901952"/>
          </a:xfrm>
          <a:prstGeom prst="roundRect">
            <a:avLst>
              <a:gd name="adj" fmla="val 3846"/>
            </a:avLst>
          </a:prstGeom>
          <a:solidFill>
            <a:srgbClr val="EF8354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5394960" y="3685032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★ Best Model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4910328" y="414223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(Chen &amp; Guestrin, 2016)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4910328" y="43891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73B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n_estimators=200, max_depth=6, lr=0.1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910328" y="465429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 corrects residuals across 200 trees. Built-in L1/L2 regularisation. Handles missing values natively.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Takes the Lead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64208"/>
          <a:ext cx="4160520" cy="2450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4754880" y="1371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in days (lower is better)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709160" y="1664208"/>
          <a:ext cx="3977640" cy="2450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42519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640080" y="425196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R² = 0.9717, RMSE = 0.3939 days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66% lower error than Linear Regression. Ridge = Linear Regression (L2 offers no benefit at α=1.0 on this scale).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RESULTS Cont.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Predictions?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71600"/>
          <a:ext cx="55778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172200" y="13716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263640" y="1481328"/>
            <a:ext cx="233172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6263640" y="2276856"/>
            <a:ext cx="233172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predictive power from just two features: rcount + total_issues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172200" y="3035808"/>
            <a:ext cx="2514600" cy="1764792"/>
          </a:xfrm>
          <a:prstGeom prst="roundRect">
            <a:avLst>
              <a:gd name="adj" fmla="val 4145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pic>
        <p:nvPicPr>
          <p:cNvPr id="10" name="Image 1" descr="icons/FaNotesMedical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2004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2200" y="3520440"/>
            <a:ext cx="2240280" cy="11887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 and vital signs (hematocrit, glucose, creatinine, sodium) each contribute modestly reflecting overall physiological status rather than dominating individually.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DISCUSSION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&amp; Clinical Relevance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AF4F6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of Results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the best R² of 0.9717, a 31% RMSE reduction over Random Forest and 66% over Linear Regression.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Linear/Ridge both stall at R² = 0.7522  ~25% variance unexplained due to non-linear feature interactions.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single Decision Tree (R² = 0.8759) outperforms linear models, confirming strong non-linear structure.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of rcount confirms prior healthcare utilization is the strongest structural predictor.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10328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Relevance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10328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align with established risk stratification frameworks (comorbidity burden, nutrition, renal function).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High-readmitter patients flagged at admission could be routed into targeted care management programs.</a:t>
            </a:r>
            <a:endParaRPr lang="en-US" sz="1150" dirty="0"/>
          </a:p>
          <a:p>
            <a:pPr marL="342900" indent="-342900">
              <a:lnSpc>
                <a:spcPct val="12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complement to clinical judgement  flagging high-risk patients earlier in the admission process.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DISCUSSION Cont.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41248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182880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(seasonal / day-of-week) effects excluded to avoid data leakage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identifier (facid) dropped, discarding facility-level variation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total_issues aggregates all comorbidities with equal weight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train-test split rather than k-fold cross-validation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binary encoding may not capture the full relationship with LoS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5093208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709160" y="1828800"/>
            <a:ext cx="397764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k-fold cross-validation (k = 5 or 10) for robust performance estimates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of XGBoost via GridSearchCV / RandomizedSearchCV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comorbidity scoring (e.g., Charlson Comorbidity Index)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657600"/>
            <a:ext cx="2377440" cy="2377440"/>
          </a:xfrm>
          <a:prstGeom prst="ellipse">
            <a:avLst/>
          </a:prstGeom>
          <a:solidFill>
            <a:srgbClr val="0B4C58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438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645920" y="777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Achieves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Clinical-Grade LoS Accuracy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R² = 0.9717 and RMSE = 0.3939 days, </a:t>
            </a:r>
            <a:r>
              <a:rPr lang="en-US" sz="13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Random Forest (R² = 0.9410) and Decision Tree (R² = 0.8759). Both linear models stalled at R² = 0.7522, confirming that gradient boosting and ensemble methods far outperform linear approaches for clinical LoS prediction.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B4C58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3172968"/>
            <a:ext cx="24231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0.9717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48640" y="3968496"/>
            <a:ext cx="24231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B4C58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64992" y="3172968"/>
            <a:ext cx="24231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0.3939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364992" y="3968496"/>
            <a:ext cx="24231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RMSE (days)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B4C58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172968"/>
            <a:ext cx="24231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8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56.4%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72200" y="3968496"/>
            <a:ext cx="24231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D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rcount alone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96112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45720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 &amp; Guestrin, C. (2016). XGBoost: A scalable tree boosting system. KDD, 785–794.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5–32.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Barnes, S. et al. (2016). Real-time prediction of inpatient LoS. JAMIA, 23(e1), e2–e10.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Turgeman, L. et al. (2017). Insights from an ML model for LoS prediction. ESWA, 78, 376–385.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Corp. (2017). Hospital length of stay dataset. Microsoft R Server Docs.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 et al. (2011). Scikit-learn: ML in Python. JMLR, 12, 2825–2830.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06440" y="1371600"/>
            <a:ext cx="2880360" cy="2971800"/>
          </a:xfrm>
          <a:prstGeom prst="roundRect">
            <a:avLst>
              <a:gd name="adj" fmla="val 2540"/>
            </a:avLst>
          </a:prstGeom>
          <a:solidFill>
            <a:srgbClr val="073B4C"/>
          </a:solidFill>
          <a:ln/>
          <a:effectLst>
            <a:outerShdw blurRad="101600" dist="38100" dir="5400000" algn="bl" rotWithShape="0">
              <a:srgbClr val="073B4C">
                <a:alpha val="12000"/>
              </a:srgbClr>
            </a:outerShdw>
          </a:effectLst>
        </p:spPr>
      </p:sp>
      <p:pic>
        <p:nvPicPr>
          <p:cNvPr id="8" name="Image 1" descr="icons/FaHeartbeat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002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43600" y="2606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8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• Section C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943600" y="301752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0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Kaleb Dagnachew</a:t>
            </a:r>
            <a:endParaRPr lang="en-US" sz="10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10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Kalkidan Agonafir</a:t>
            </a:r>
            <a:endParaRPr lang="en-US" sz="10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10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Kernemi Kidane</a:t>
            </a:r>
            <a:endParaRPr lang="en-US" sz="10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10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Lidiya Abebe</a:t>
            </a:r>
            <a:endParaRPr lang="en-US" sz="10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10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 Seboka</a:t>
            </a:r>
            <a:endParaRPr lang="en-US" sz="1000" dirty="0"/>
          </a:p>
          <a:p>
            <a:pPr marL="0" indent="0" algn="ctr">
              <a:lnSpc>
                <a:spcPct val="122000"/>
              </a:lnSpc>
              <a:buNone/>
            </a:pPr>
            <a:r>
              <a:rPr lang="en-US" sz="1000" dirty="0">
                <a:solidFill>
                  <a:srgbClr val="D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Nehemiah Mitiku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8920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Length of Stay Prediction  |  Intro to Machine Learning  |  Group 1, Section C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412480" y="4892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1851</Words>
  <Application>Microsoft Office PowerPoint</Application>
  <PresentationFormat>On-screen Show (16:9)</PresentationFormat>
  <Paragraphs>258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Length of Stay Prediction</dc:title>
  <dc:subject>PptxGenJS Presentation</dc:subject>
  <dc:creator>Group 1, Section C</dc:creator>
  <cp:lastModifiedBy>Dagnachew Teferi</cp:lastModifiedBy>
  <cp:revision>3</cp:revision>
  <dcterms:created xsi:type="dcterms:W3CDTF">2026-06-23T02:07:49Z</dcterms:created>
  <dcterms:modified xsi:type="dcterms:W3CDTF">2026-06-23T02:27:33Z</dcterms:modified>
</cp:coreProperties>
</file>