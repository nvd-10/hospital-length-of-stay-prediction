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1-2</c:v>
                </c:pt>
                <c:pt idx="1">
                  <c:v>3-4</c:v>
                </c:pt>
                <c:pt idx="2">
                  <c:v>5-6</c:v>
                </c:pt>
                <c:pt idx="3">
                  <c:v>7-8</c:v>
                </c:pt>
                <c:pt idx="4">
                  <c:v>9-10</c:v>
                </c:pt>
                <c:pt idx="5">
                  <c:v>11-12</c:v>
                </c:pt>
                <c:pt idx="6">
                  <c:v>13+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29000</c:v>
                </c:pt>
                <c:pt idx="1">
                  <c:v>31000</c:v>
                </c:pt>
                <c:pt idx="2">
                  <c:v>19000</c:v>
                </c:pt>
                <c:pt idx="3">
                  <c:v>11000</c:v>
                </c:pt>
                <c:pt idx="4">
                  <c:v>6000</c:v>
                </c:pt>
                <c:pt idx="5">
                  <c:v>3000</c:v>
                </c:pt>
                <c:pt idx="6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9F-4CCF-99E3-85EC4D7520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73B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rcount</c:v>
                </c:pt>
                <c:pt idx="1">
                  <c:v>psychologicaldisordermajor</c:v>
                </c:pt>
                <c:pt idx="2">
                  <c:v>hemo</c:v>
                </c:pt>
                <c:pt idx="3">
                  <c:v>irondef</c:v>
                </c:pt>
                <c:pt idx="4">
                  <c:v>psychother</c:v>
                </c:pt>
                <c:pt idx="5">
                  <c:v>malnutrition</c:v>
                </c:pt>
                <c:pt idx="6">
                  <c:v>dialysisrenalendstage</c:v>
                </c:pt>
                <c:pt idx="7">
                  <c:v>bloodureanitro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0.74950000000000006</c:v>
                </c:pt>
                <c:pt idx="1">
                  <c:v>0.28670000000000001</c:v>
                </c:pt>
                <c:pt idx="2">
                  <c:v>0.2177</c:v>
                </c:pt>
                <c:pt idx="3">
                  <c:v>0.1938</c:v>
                </c:pt>
                <c:pt idx="4">
                  <c:v>0.19170000000000001</c:v>
                </c:pt>
                <c:pt idx="5">
                  <c:v>0.1744</c:v>
                </c:pt>
                <c:pt idx="6">
                  <c:v>0.16969999999999999</c:v>
                </c:pt>
                <c:pt idx="7">
                  <c:v>0.14829999999999999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1D-4D1E-8FB3-10C72D02B0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b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15-436F-8314-5FB287A8C107}"/>
              </c:ext>
            </c:extLst>
          </c:dPt>
          <c:dPt>
            <c:idx val="1"/>
            <c:invertIfNegative val="0"/>
            <c:bubble3D val="0"/>
            <c:spPr>
              <a:solidFill>
                <a:srgbClr val="EF83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15-436F-8314-5FB287A8C107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73B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Linear
Regression</c:v>
                </c:pt>
                <c:pt idx="1">
                  <c:v>Random
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0.75219999999999998</c:v>
                </c:pt>
                <c:pt idx="1">
                  <c:v>0.94099999999999995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15-436F-8314-5FB287A8C1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30-4C50-8959-00564A6ED54B}"/>
              </c:ext>
            </c:extLst>
          </c:dPt>
          <c:dPt>
            <c:idx val="1"/>
            <c:invertIfNegative val="0"/>
            <c:bubble3D val="0"/>
            <c:spPr>
              <a:solidFill>
                <a:srgbClr val="EF83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30-4C50-8959-00564A6ED54B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73B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Linear
Regression</c:v>
                </c:pt>
                <c:pt idx="1">
                  <c:v>Random
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1.1660999999999999</c:v>
                </c:pt>
                <c:pt idx="1">
                  <c:v>0.56869999999999998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30-4C50-8959-00564A6ED5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73B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rcount</c:v>
                </c:pt>
                <c:pt idx="1">
                  <c:v>total_issues</c:v>
                </c:pt>
                <c:pt idx="2">
                  <c:v>hematocrit</c:v>
                </c:pt>
                <c:pt idx="3">
                  <c:v>bmi</c:v>
                </c:pt>
                <c:pt idx="4">
                  <c:v>glucose</c:v>
                </c:pt>
                <c:pt idx="5">
                  <c:v>creatinine</c:v>
                </c:pt>
                <c:pt idx="6">
                  <c:v>sodium</c:v>
                </c:pt>
                <c:pt idx="7">
                  <c:v>respiration</c:v>
                </c:pt>
                <c:pt idx="8">
                  <c:v>pulse</c:v>
                </c:pt>
                <c:pt idx="9">
                  <c:v>neutrophils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0.56430000000000002</c:v>
                </c:pt>
                <c:pt idx="1">
                  <c:v>0.2132</c:v>
                </c:pt>
                <c:pt idx="2">
                  <c:v>3.8699999999999998E-2</c:v>
                </c:pt>
                <c:pt idx="3">
                  <c:v>2.5499999999999998E-2</c:v>
                </c:pt>
                <c:pt idx="4">
                  <c:v>2.5499999999999998E-2</c:v>
                </c:pt>
                <c:pt idx="5">
                  <c:v>2.53E-2</c:v>
                </c:pt>
                <c:pt idx="6">
                  <c:v>2.5100000000000001E-2</c:v>
                </c:pt>
                <c:pt idx="7">
                  <c:v>2.47E-2</c:v>
                </c:pt>
                <c:pt idx="8">
                  <c:v>2.3800000000000002E-2</c:v>
                </c:pt>
                <c:pt idx="9">
                  <c:v>1.6199999999999999E-2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6E-4280-B65D-393EC999CE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b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323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pn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4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1188720"/>
            <a:ext cx="3108960" cy="3108960"/>
          </a:xfrm>
          <a:prstGeom prst="ellipse">
            <a:avLst/>
          </a:prstGeom>
          <a:solidFill>
            <a:srgbClr val="0B4C5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291840"/>
            <a:ext cx="2743200" cy="2743200"/>
          </a:xfrm>
          <a:prstGeom prst="ellipse">
            <a:avLst/>
          </a:prstGeom>
          <a:solidFill>
            <a:srgbClr val="0B4C5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 SCIENCE AND TECHNOLOGY UNIVERSITY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Engineering  •  Department of Software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4360" y="22402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Length of Stay Prediction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Linear Regression and Random Forest Regression for Clinical Length-of-Stay Prediction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822192"/>
            <a:ext cx="7589520" cy="9144"/>
          </a:xfrm>
          <a:prstGeom prst="rect">
            <a:avLst/>
          </a:prstGeom>
          <a:ln/>
        </p:spPr>
      </p:sp>
      <p:sp>
        <p:nvSpPr>
          <p:cNvPr id="10" name="Text 7"/>
          <p:cNvSpPr/>
          <p:nvPr/>
        </p:nvSpPr>
        <p:spPr>
          <a:xfrm>
            <a:off x="64008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Section 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187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Kaleb Dagnachew — ETS0747/15    |    Kernemi Kidane — ETS0760/15    |    Lidiya Abebe — ETS0832/15    |    Meti Seboka — ETS0918/15    |    Nehemiah Mitiku </a:t>
            </a:r>
            <a:r>
              <a:rPr lang="en-US" sz="105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ETS1082/15 </a:t>
            </a:r>
            <a:r>
              <a:rPr lang="en-GB" sz="105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</a:t>
            </a:r>
            <a:r>
              <a:rPr lang="en-GB" sz="105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Kalkidan Agonafir</a:t>
            </a:r>
            <a:r>
              <a:rPr lang="en-US" sz="105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ETS</a:t>
            </a:r>
            <a:r>
              <a:rPr lang="en-GB" sz="105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0749</a:t>
            </a:r>
            <a:r>
              <a:rPr lang="en-US" sz="105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GB" sz="105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Assoc. Prof. Fedlu Nurhussien      |      Academic Year 2025–2026</a:t>
            </a:r>
            <a:endParaRPr lang="en-US" sz="10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F28985F-832C-43CD-A70C-08185BE521FD}"/>
              </a:ext>
            </a:extLst>
          </p:cNvPr>
          <p:cNvSpPr/>
          <p:nvPr/>
        </p:nvSpPr>
        <p:spPr>
          <a:xfrm>
            <a:off x="1870166" y="181443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94360" y="13807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334256" y="13716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LoS prediction matters in hospital operations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066544"/>
            <a:ext cx="8092440" cy="0"/>
          </a:xfrm>
          <a:prstGeom prst="line">
            <a:avLst/>
          </a:prstGeom>
          <a:noFill/>
          <a:ln w="12700">
            <a:solidFill>
              <a:srgbClr val="E3EEF1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94360" y="21076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334256" y="20756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patient records, 28 clinical features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2761488"/>
            <a:ext cx="8092440" cy="0"/>
          </a:xfrm>
          <a:prstGeom prst="line">
            <a:avLst/>
          </a:prstGeom>
          <a:noFill/>
          <a:ln w="12700">
            <a:solidFill>
              <a:srgbClr val="E3EEF1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94360" y="2779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34256" y="277063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feature engineering, and model design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3456432"/>
            <a:ext cx="8092440" cy="0"/>
          </a:xfrm>
          <a:prstGeom prst="line">
            <a:avLst/>
          </a:prstGeom>
          <a:noFill/>
          <a:ln w="12700">
            <a:solidFill>
              <a:srgbClr val="E3EEF1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94360" y="3465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334256" y="3502151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vs. Linear Regression performance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4151376"/>
            <a:ext cx="8092440" cy="0"/>
          </a:xfrm>
          <a:prstGeom prst="line">
            <a:avLst/>
          </a:prstGeom>
          <a:noFill/>
          <a:ln w="12700">
            <a:solidFill>
              <a:srgbClr val="E3EEF1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59436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4334256" y="4160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relevance, limitations, and future work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Predict Length of Stay?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(LoS) </a:t>
            </a: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number of days a patient remains admitted  is one of the most consequential metrics in healthcare operations.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Health Records (EHRs) now provide rich, structured clinical data that machine learning can exploit to model complex, non-linear relationships traditional statistics miss.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4290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pic>
        <p:nvPicPr>
          <p:cNvPr id="8" name="Image 1" descr="icons/FaExclamationTriangl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8404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56616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LoS forecasts cause bed shortages, delayed elective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procedures, rising costs, and diminished patient care.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806440" y="137160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97880" y="1481328"/>
            <a:ext cx="26974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5897880" y="2221992"/>
            <a:ext cx="26974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 in this study's dataset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806440" y="297180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897880" y="3081528"/>
            <a:ext cx="26974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1–17 days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5897880" y="3986784"/>
            <a:ext cx="26974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observed lengths of stay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= 4.00, median = 4)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Cont. 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46304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hospitals still rely on heuristic estimates or simple regression models,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fail to capture complex, non-linear interactions among clinical variables. This project compares a linear baseline against a non-parametric ensemble method.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115568" y="25237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&amp; data quality assessment on the hospital dataset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246888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367528" y="25237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and engineer features suitable for ML models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31012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1115568" y="336499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Linear Regression &amp; Random Forest models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709160" y="331012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5367528" y="336499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 using R² and RMSE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57200" y="4151376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1115568" y="42062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clinical variables most predictive of LoS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LITERATURE REVIEW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 Prior 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581912"/>
            <a:ext cx="45720" cy="868680"/>
          </a:xfrm>
          <a:prstGeom prst="rect">
            <a:avLst/>
          </a:prstGeom>
          <a:ln/>
        </p:spPr>
      </p:sp>
      <p:sp>
        <p:nvSpPr>
          <p:cNvPr id="7" name="Text 4"/>
          <p:cNvSpPr/>
          <p:nvPr/>
        </p:nvSpPr>
        <p:spPr>
          <a:xfrm>
            <a:off x="713232" y="1545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Turgeman et al. (2017)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18562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Random Forest &amp; CART to ICU data  R² above 0.80 for ensemble methods.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581912"/>
            <a:ext cx="45720" cy="868680"/>
          </a:xfrm>
          <a:prstGeom prst="rect">
            <a:avLst/>
          </a:prstGeom>
          <a:ln/>
        </p:spPr>
      </p:sp>
      <p:sp>
        <p:nvSpPr>
          <p:cNvPr id="11" name="Text 8"/>
          <p:cNvSpPr/>
          <p:nvPr/>
        </p:nvSpPr>
        <p:spPr>
          <a:xfrm>
            <a:off x="4965192" y="1545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Barnes et al. (2016)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65192" y="18562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readmission count and comorbidity indicators markedly improve accuracy.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825496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" y="2990088"/>
            <a:ext cx="45720" cy="868680"/>
          </a:xfrm>
          <a:prstGeom prst="rect">
            <a:avLst/>
          </a:prstGeom>
          <a:ln/>
        </p:spPr>
      </p:sp>
      <p:sp>
        <p:nvSpPr>
          <p:cNvPr id="15" name="Text 12"/>
          <p:cNvSpPr/>
          <p:nvPr/>
        </p:nvSpPr>
        <p:spPr>
          <a:xfrm>
            <a:off x="713232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Harutyunyan et al. (2019)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3232" y="32644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 learning jointly predicting LoS and mortality risk from time-series data.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9160" y="2825496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10328" y="2990088"/>
            <a:ext cx="45720" cy="868680"/>
          </a:xfrm>
          <a:prstGeom prst="rect">
            <a:avLst/>
          </a:prstGeom>
          <a:ln/>
        </p:spPr>
      </p:sp>
      <p:sp>
        <p:nvSpPr>
          <p:cNvPr id="19" name="Text 16"/>
          <p:cNvSpPr/>
          <p:nvPr/>
        </p:nvSpPr>
        <p:spPr>
          <a:xfrm>
            <a:off x="4965192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Daghistani et al. (2019)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65192" y="32644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approaches to LoS prediction among cardiac patients using EHR-derived features.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Consensus: </a:t>
            </a:r>
            <a:r>
              <a:rPr lang="en-US" sz="1200" i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tree methods consistently outperform linear baselines for LoS, and readmission count / comorbidity burden are robust predictors findings this study confirms.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DATASET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 Server “Hospital Length of Stay” dataset of multi-facility patient records.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2212848"/>
            <a:ext cx="17556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17556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210312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51760" y="2212848"/>
            <a:ext cx="17556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651760" y="2788920"/>
            <a:ext cx="17556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210312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2212848"/>
            <a:ext cx="17556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754880" y="2788920"/>
            <a:ext cx="17556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66560" y="210312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2212848"/>
            <a:ext cx="17556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58000" y="2788920"/>
            <a:ext cx="17556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Corrected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preprocessing, the rcount '5+' category was mapped to integer 5, and a single negative glucose reading was median-imputed (≈142.09 mg/dL).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- lengthofstay (days)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24528"/>
          <a:ext cx="8229600" cy="548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DATASET Cont. 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Categories of Features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58368" y="15179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Administrative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8368" y="19933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eid, vdate, discharged, facid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58368" y="2432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prior to modelling (leakage / non-informative)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09160" y="13716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910328" y="15179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&amp; History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910328" y="19933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rcount, gender,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secondarydiagnosisnonicd9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910328" y="2432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prior utilization &amp; patient profile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57200" y="29260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58368" y="307238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Comorbidity Indicators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58368" y="3547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binary flags, e.g. asthma,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depress, malnutrition, hemo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58368" y="39867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into engineered total_issues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09160" y="29260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4910328" y="307238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Clinical Measures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910328" y="3547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hematocrit, glucose, creatinine,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pulse, respiration...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910328" y="39867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lab values &amp; vital signs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EXPLORATORY DATA ANALYSIS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Target Distribution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400" dirty="0"/>
          </a:p>
        </p:txBody>
      </p:sp>
      <p:pic>
        <p:nvPicPr>
          <p:cNvPr id="6" name="Image 1" descr="icons/Fa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1368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any column after loading</a:t>
            </a:r>
            <a:endParaRPr lang="en-US" sz="1100" dirty="0"/>
          </a:p>
        </p:txBody>
      </p:sp>
      <p:pic>
        <p:nvPicPr>
          <p:cNvPr id="8" name="Image 2" descr="icons/Fa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240" y="23591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across 100,000 rows</a:t>
            </a:r>
            <a:endParaRPr lang="en-US" sz="1100" dirty="0"/>
          </a:p>
        </p:txBody>
      </p:sp>
      <p:pic>
        <p:nvPicPr>
          <p:cNvPr id="10" name="Image 3" descr="icons/Fa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44952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" y="29809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physiologically impossible glucose value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(−1.006 mg/dL) corrected via median imputation</a:t>
            </a:r>
            <a:endParaRPr lang="en-US" sz="1100" dirty="0"/>
          </a:p>
        </p:txBody>
      </p:sp>
      <p:pic>
        <p:nvPicPr>
          <p:cNvPr id="12" name="Image 4" descr="icons/Fa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66744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77240" y="36027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rcount '5+' label converted to integer 5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4617720" y="14173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lengthofstay (illustrative, right-skewed)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572000" y="1737360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8"/>
          <p:cNvSpPr/>
          <p:nvPr/>
        </p:nvSpPr>
        <p:spPr>
          <a:xfrm>
            <a:off x="4572000" y="40416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admitted →</a:t>
            </a:r>
            <a:endParaRPr lang="en-US" sz="950" dirty="0"/>
          </a:p>
        </p:txBody>
      </p:sp>
      <p:sp>
        <p:nvSpPr>
          <p:cNvPr id="17" name="Shape 9"/>
          <p:cNvSpPr/>
          <p:nvPr/>
        </p:nvSpPr>
        <p:spPr>
          <a:xfrm>
            <a:off x="457200" y="41605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8" name="Text 10"/>
          <p:cNvSpPr/>
          <p:nvPr/>
        </p:nvSpPr>
        <p:spPr>
          <a:xfrm>
            <a:off x="548640" y="4270248"/>
            <a:ext cx="15544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4.00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548640" y="4626864"/>
            <a:ext cx="15544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(days)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2286000" y="41605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2377440" y="4270248"/>
            <a:ext cx="15544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4"/>
          <p:cNvSpPr/>
          <p:nvPr/>
        </p:nvSpPr>
        <p:spPr>
          <a:xfrm>
            <a:off x="2377440" y="4626864"/>
            <a:ext cx="15544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(days)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EXPLORATORY DATA ANALYSIS Cont. 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Correlates with Length of Stay?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7160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6075680" y="1371600"/>
            <a:ext cx="261112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263640" y="148132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6263640" y="2194560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rcount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length of stay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strongest predictor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075680" y="2926080"/>
            <a:ext cx="2611120" cy="1828800"/>
          </a:xfrm>
          <a:prstGeom prst="roundRect">
            <a:avLst>
              <a:gd name="adj" fmla="val 4000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pic>
        <p:nvPicPr>
          <p:cNvPr id="10" name="Image 1" descr="icons/FaLightbulb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09067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200" y="3429000"/>
            <a:ext cx="224028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comorbidity flags show moderate positive correlation patients with more conditions stay longer. Hematocrit is the only notable negative correlate (r = −0.064).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METHODOLOGY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1938528" cy="2011680"/>
          </a:xfrm>
          <a:prstGeom prst="roundRect">
            <a:avLst>
              <a:gd name="adj" fmla="val 37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75004" y="1664208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22860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Correction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85216" y="2697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glucose value set to NaN, imputed with column median</a:t>
            </a:r>
            <a:endParaRPr lang="en-US" sz="950" dirty="0"/>
          </a:p>
        </p:txBody>
      </p:sp>
      <p:pic>
        <p:nvPicPr>
          <p:cNvPr id="11" name="Image 2" descr="icons/Fa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2331720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560320" y="1463040"/>
            <a:ext cx="1938528" cy="2011680"/>
          </a:xfrm>
          <a:prstGeom prst="roundRect">
            <a:avLst>
              <a:gd name="adj" fmla="val 37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278124" y="1664208"/>
            <a:ext cx="502920" cy="50292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14" name="Image 3" descr="icons/FaArrowRigh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79679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56032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2670048" y="22860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Removal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688336" y="2697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eid, vdate, discharged, facid to prevent leakage</a:t>
            </a:r>
            <a:endParaRPr lang="en-US" sz="950" dirty="0"/>
          </a:p>
        </p:txBody>
      </p:sp>
      <p:pic>
        <p:nvPicPr>
          <p:cNvPr id="18" name="Image 4" descr="icons/Fa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331720"/>
            <a:ext cx="146304" cy="14630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663440" y="1463040"/>
            <a:ext cx="1938528" cy="2011680"/>
          </a:xfrm>
          <a:prstGeom prst="roundRect">
            <a:avLst>
              <a:gd name="adj" fmla="val 37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5381244" y="1664208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2" name="Text 14"/>
          <p:cNvSpPr/>
          <p:nvPr/>
        </p:nvSpPr>
        <p:spPr>
          <a:xfrm>
            <a:off x="466344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4773168" y="22860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791456" y="2697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rcount → integers (0–5); gender label-encoded (F=0, M=1)</a:t>
            </a:r>
            <a:endParaRPr lang="en-US" sz="950" dirty="0"/>
          </a:p>
        </p:txBody>
      </p:sp>
      <p:pic>
        <p:nvPicPr>
          <p:cNvPr id="25" name="Image 6" descr="icons/Fa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331720"/>
            <a:ext cx="146304" cy="146304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766560" y="1463040"/>
            <a:ext cx="1938528" cy="2011680"/>
          </a:xfrm>
          <a:prstGeom prst="roundRect">
            <a:avLst>
              <a:gd name="adj" fmla="val 37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7484364" y="1664208"/>
            <a:ext cx="502920" cy="502920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29" name="Text 19"/>
          <p:cNvSpPr/>
          <p:nvPr/>
        </p:nvSpPr>
        <p:spPr>
          <a:xfrm>
            <a:off x="676656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6876288" y="22860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6894576" y="2697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total_issues = sum of 11 comorbidity flags (range 0–11)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073B4C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raw columns → 24 input features after removal &amp; engineering, ready for an 80/20 train-test split.</a:t>
            </a:r>
            <a:endParaRPr lang="en-US" sz="1250" dirty="0"/>
          </a:p>
        </p:txBody>
      </p:sp>
      <p:sp>
        <p:nvSpPr>
          <p:cNvPr id="33" name="Text 23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34" name="Text 24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35" name="Image 3" descr="icons/FaArrowRight_white.png">
            <a:extLst>
              <a:ext uri="{FF2B5EF4-FFF2-40B4-BE49-F238E27FC236}">
                <a16:creationId xmlns:a16="http://schemas.microsoft.com/office/drawing/2014/main" id="{9220F8C8-5FB3-4E88-9E0D-04AA0959A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1793313"/>
            <a:ext cx="274320" cy="274320"/>
          </a:xfrm>
          <a:prstGeom prst="rect">
            <a:avLst/>
          </a:prstGeom>
        </p:spPr>
      </p:pic>
      <p:pic>
        <p:nvPicPr>
          <p:cNvPr id="36" name="Image 3" descr="icons/FaArrowRight_white.png">
            <a:extLst>
              <a:ext uri="{FF2B5EF4-FFF2-40B4-BE49-F238E27FC236}">
                <a16:creationId xmlns:a16="http://schemas.microsoft.com/office/drawing/2014/main" id="{DE4A4DC8-C3D5-4014-9220-E51163B6F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544" y="1796796"/>
            <a:ext cx="274320" cy="274320"/>
          </a:xfrm>
          <a:prstGeom prst="rect">
            <a:avLst/>
          </a:prstGeom>
        </p:spPr>
      </p:pic>
      <p:pic>
        <p:nvPicPr>
          <p:cNvPr id="37" name="Image 3" descr="icons/FaArrowRight_white.png">
            <a:extLst>
              <a:ext uri="{FF2B5EF4-FFF2-40B4-BE49-F238E27FC236}">
                <a16:creationId xmlns:a16="http://schemas.microsoft.com/office/drawing/2014/main" id="{48798688-349F-449A-9137-1FFB492FE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177393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METHODOLOGY Cont. 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One Comparison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58368" y="1627632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 (OLS)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58368" y="2542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3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β₀ + β₁x₁ + β₂x₂ + ... + βₙxₙ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58368" y="301752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linear, additive relationship between features and target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standardized with StandardScaler (fit on train only)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transparent  but cannot capture feature interactions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09160" y="141732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910328" y="162763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10328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(Breiman, 2001)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910328" y="2542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83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100,  random_state = 42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10328" y="301752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predictions across 100 trees for robustness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unscaled features  invariant to monotonic transforms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models non-linear relationships &amp; feature interactions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Wins Decisively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(higher is better)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45920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4709160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in days (lower is better)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709160" y="1645920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40690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640080" y="406908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94.10%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LoS variance explained, with a </a:t>
            </a:r>
            <a:r>
              <a:rPr lang="en-US" sz="13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reduction in RMSE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the linear baseline evaluated on a 20,000 record holdout test set.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 Cont. 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Predictions?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71600"/>
          <a:ext cx="55778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6035040" y="13716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263640" y="1481328"/>
            <a:ext cx="23317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263640" y="2276856"/>
            <a:ext cx="2331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predictive power from just two features: rcount + total_issues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035040" y="3035808"/>
            <a:ext cx="2651760" cy="1764792"/>
          </a:xfrm>
          <a:prstGeom prst="roundRect">
            <a:avLst>
              <a:gd name="adj" fmla="val 4145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617220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 and vital signs (hematocrit, glucose, creatinine, sodium) each contribute modestly reflecting overall physiological status rather than dominating individually.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DISCUSSION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&amp; Clinical Relevance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572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of Results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9202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leaves ~25% of variance unexplained  attributable to non-linear feature interactions OLS cannot capture.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Forest's ensemble of trees successfully models these interactions, lifting R² to 0.9410.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of rcount suggests prior healthcare utilization is a strong structural predictor of current stay duration.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10328" y="1572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Relevance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10328" y="19202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align with established risk stratification frameworks (comorbidity burden, nutrition, renal function).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High-readmitter patients flagged at admission could be routed into targeted care management programs.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complement to clinical judgement flagging high-risk patients earlier in the admission process.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DISCUSSION Cont. 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41248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2027428"/>
            <a:ext cx="4023360" cy="206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(seasonal / day-of-week) effects excluded to avoid leakage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identifier (facid) dropped, discarding facility-level variation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total_issues treats all comorbidities as equally weighted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train-test split, not k-fold cross-validation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5093208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709160" y="182880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k-fold cross-validation (k = 5 or 10) for robust estimates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via GridSearchCV / RandomizedSearchCV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Gradient Boosting methods (XGBoost, LightGBM)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facility-level effects via target encoding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weighted comorbidity scoring (e.g., Charlson Index)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108960" cy="3108960"/>
          </a:xfrm>
          <a:prstGeom prst="ellipse">
            <a:avLst/>
          </a:prstGeom>
          <a:solidFill>
            <a:srgbClr val="0B4C58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657600"/>
            <a:ext cx="2377440" cy="2377440"/>
          </a:xfrm>
          <a:prstGeom prst="ellipse">
            <a:avLst/>
          </a:prstGeom>
          <a:solidFill>
            <a:srgbClr val="0B4C58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438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Methods Deliver Clinically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Meaningful LoS Predictions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 achieved R² = 0.9410 and RMSE = 0.5687 days, </a:t>
            </a:r>
            <a:r>
              <a:rPr lang="en-US" sz="13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outperforming the Linear Regression baseline (R² = 0.7522, RMSE = 1.1661 days). Readmission count proved the dominant predictor, followed by psychological comorbidities and hematological indicators.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B4C58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172968"/>
            <a:ext cx="24231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0.9410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48640" y="3968496"/>
            <a:ext cx="24231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R²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73552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B4C58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64992" y="3172968"/>
            <a:ext cx="24231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0.5687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364992" y="3968496"/>
            <a:ext cx="24231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(days)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076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B4C58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3172968"/>
            <a:ext cx="24231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56.4%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172200" y="3968496"/>
            <a:ext cx="24231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rcount alone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04800" y="1792224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5–32.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Barnes, S. et al. (2016). Real-time prediction of inpatient LoS. JAMIA, 23(e1), e2–e10.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Turgeman, L. et al. (2017). Insights from an ML model for LoS prediction. ESWA, 78, 376–385.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Corp. (2017). Hospital length of </a:t>
            </a:r>
            <a:r>
              <a:rPr lang="en-US" sz="105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dataset</a:t>
            </a: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Microsoft R Server Docs.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 et al. (2011). Scikit-learn: ML in Python. JMLR, 12, 2825–2830.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06440" y="1371600"/>
            <a:ext cx="2880360" cy="2971800"/>
          </a:xfrm>
          <a:prstGeom prst="roundRect">
            <a:avLst>
              <a:gd name="adj" fmla="val 2540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94360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4360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• Section C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0" y="30175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Kaleb Dagnachew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Kernemi Kidane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Lidiya Abebe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 Seboka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Nehemiah Mitiku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1713</Words>
  <Application>Microsoft Office PowerPoint</Application>
  <PresentationFormat>On-screen Show (16:9)</PresentationFormat>
  <Paragraphs>248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Length of Stay Prediction</dc:title>
  <dc:subject>PptxGenJS Presentation</dc:subject>
  <dc:creator>Group 1, Section C</dc:creator>
  <cp:lastModifiedBy>Nehemiah Mitiku</cp:lastModifiedBy>
  <cp:revision>6</cp:revision>
  <dcterms:created xsi:type="dcterms:W3CDTF">2026-06-21T14:09:02Z</dcterms:created>
  <dcterms:modified xsi:type="dcterms:W3CDTF">2026-06-22T13:25:04Z</dcterms:modified>
</cp:coreProperties>
</file>